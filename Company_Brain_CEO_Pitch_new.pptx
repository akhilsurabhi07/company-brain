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A49B"/>
                </a:solidFill>
                <a:latin typeface="Consolas"/>
              </a:rPr>
              <a:t>INTERNAL BRIEFING · PRODUCT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9144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FAF8F2"/>
                </a:solidFill>
                <a:latin typeface="Georgia"/>
              </a:rPr>
              <a:t>Company </a:t>
            </a:r>
          </a:p>
          <a:p>
            <a:r>
              <a:rPr sz="7200" i="1">
                <a:solidFill>
                  <a:srgbClr val="9C6B22"/>
                </a:solidFill>
                <a:latin typeface="Georgia"/>
              </a:rPr>
              <a:t>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9476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C9C5BA"/>
                </a:solidFill>
                <a:latin typeface="Georgia"/>
              </a:rPr>
              <a:t>The organizational memory a company never had — and the</a:t>
            </a:r>
          </a:p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C9C5BA"/>
                </a:solidFill>
                <a:latin typeface="Georgia"/>
              </a:rPr>
              <a:t>intelligence layer built on top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C6B22"/>
                </a:solidFill>
                <a:latin typeface="Consolas"/>
              </a:rPr>
              <a:t>PREPARED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424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C5BA"/>
                </a:solidFill>
                <a:latin typeface="Consolas"/>
              </a:rPr>
              <a:t>Founders &amp; Executive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548640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C6B22"/>
                </a:solidFill>
                <a:latin typeface="Consolas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57424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C5BA"/>
                </a:solidFill>
                <a:latin typeface="Consolas"/>
              </a:rPr>
              <a:t>Modules 1–6 built · Modules 7–11 designed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48640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9C6B22"/>
                </a:solidFill>
                <a:latin typeface="Consolas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57424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C5BA"/>
                </a:solidFill>
                <a:latin typeface="Consolas"/>
              </a:rPr>
              <a:t>24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737360"/>
            <a:ext cx="981425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1">
                <a:solidFill>
                  <a:srgbClr val="FAF8F2"/>
                </a:solidFill>
                <a:latin typeface="Georgia"/>
              </a:rPr>
              <a:t>Company Brain is building an AI-native operating layer that understands how a company works, remembers why decisions were made, and — eventually — acts on that knowledge.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5029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C6B22"/>
                </a:solidFill>
                <a:latin typeface="Consolas"/>
              </a:rPr>
              <a:t>THE ONE SENTENCE TO REMEMBER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0" i="0">
                <a:solidFill>
                  <a:srgbClr val="1C1E27"/>
                </a:solidFill>
                <a:latin typeface="Georgia"/>
              </a:rPr>
              <a:t>Companies have a lot of information.</a:t>
            </a:r>
          </a:p>
          <a:p>
            <a:pPr algn="l">
              <a:lnSpc>
                <a:spcPct val="106000"/>
              </a:lnSpc>
            </a:pPr>
            <a:r>
              <a:rPr sz="3000" b="0" i="0">
                <a:solidFill>
                  <a:srgbClr val="1C1E27"/>
                </a:solidFill>
                <a:latin typeface="Georgia"/>
              </a:rPr>
              <a:t>They don't have organizational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8778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54534E"/>
                </a:solidFill>
                <a:latin typeface="Segoe UI"/>
              </a:rPr>
              <a:t>The information is scattered across Slack, Google Drive, email, GitHub, meetings, documents, tickets and databases. The real problem isn't that employees can't find a document — it's that the company has no unified understanding of its own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 ·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01 / 33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10896"/>
            <a:ext cx="32788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3681" y="310896"/>
            <a:ext cx="1049221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01 — WHERE THE KNOWLEDGE ACTUALLY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One question. Six places to look.</a:t>
            </a:r>
          </a:p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No system that connects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06324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Slack threads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8606" y="3063240"/>
            <a:ext cx="163128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Google Drive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67911" y="306324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19" y="3063240"/>
            <a:ext cx="17995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GitHub issues &amp; PRs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45274" y="306324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Meeting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080" y="3063240"/>
            <a:ext cx="14630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Support tickets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9135" y="3063240"/>
            <a:ext cx="171541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Internal databases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83864"/>
            <a:ext cx="537667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Jira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51483" y="3483864"/>
            <a:ext cx="15471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Someone's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 · 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02 / 33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10896"/>
            <a:ext cx="65576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41563" y="310896"/>
            <a:ext cx="1016433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01 —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A new engineer joins. They ask a simple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500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Why did we choose this architecture?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500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Who made that decision?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500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What discussions led to it?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500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What constraints existed at the time?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500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Which documents support it?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500">
                <a:solidFill>
                  <a:srgbClr val="9C6B22"/>
                </a:solidFill>
                <a:latin typeface="Segoe UI"/>
              </a:rPr>
              <a:t>—  </a:t>
            </a:r>
            <a:r>
              <a:rPr sz="1500">
                <a:solidFill>
                  <a:srgbClr val="54534E"/>
                </a:solidFill>
                <a:latin typeface="Segoe UI"/>
              </a:rPr>
              <a:t>What changed afterward?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3212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1C1E27"/>
                </a:solidFill>
                <a:latin typeface="Georgia"/>
              </a:rPr>
              <a:t>Today, they search four tools and interrupt three people. Company Brain is designed to answer that as one connected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 ·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03 / 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0896"/>
            <a:ext cx="98364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69445" y="310896"/>
            <a:ext cx="983645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02 — WHAT COMPANY BRAIN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Not an assistant bolted onto your files.</a:t>
            </a:r>
          </a:p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A living, structured memory of the organization.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8778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4534E"/>
                </a:solidFill>
                <a:latin typeface="Segoe UI"/>
              </a:rPr>
              <a:t>It continuously ingests organizational knowledge, understands the relationships between people, documents, conversations, decisions, projects and systems — and turns that into a trusted company knowledge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4534E"/>
                </a:solidFill>
                <a:latin typeface="Segoe UI"/>
              </a:rPr>
              <a:t>On top of that layer, we're building conversational intelligence, AI agents, and eventually autonomous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 ·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04 / 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0896"/>
            <a:ext cx="1311526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97326" y="310896"/>
            <a:ext cx="9508569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02 — THE ARCHITECTURE, AT CEO ALTITUDE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Four layers. The model never talks to raw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6949440" cy="530352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Data Sources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Slack · Drive · GitHub · Docs · Meetings ·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62072"/>
            <a:ext cx="6949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81528"/>
            <a:ext cx="6949440" cy="530352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Company Knowledge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Knowledge Graph · Semantic Memory · Decisions ·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6949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31336"/>
            <a:ext cx="6949440" cy="530352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Conversational AI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Memory · Grounding · Reasoning ·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61688"/>
            <a:ext cx="6949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81144"/>
            <a:ext cx="6949440" cy="530352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8A5C18"/>
                </a:solidFill>
                <a:latin typeface="Segoe UI"/>
              </a:rPr>
              <a:t>AI Experience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Chat · Search ·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29784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A5C18"/>
                </a:solidFill>
                <a:latin typeface="Consolas"/>
              </a:rPr>
              <a:t>↓  N E X 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31536"/>
            <a:ext cx="958291" cy="365760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 w="1270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2E5955"/>
                </a:solidFill>
                <a:latin typeface="Consolas"/>
              </a:rPr>
              <a:t>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72107" y="5431536"/>
            <a:ext cx="1042415" cy="365760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 w="1270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2E5955"/>
                </a:solidFill>
                <a:latin typeface="Consolas"/>
              </a:rPr>
              <a:t>Automation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2538" y="5431536"/>
            <a:ext cx="2051913" cy="365760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 w="1270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2E5955"/>
                </a:solidFill>
                <a:latin typeface="Consolas"/>
              </a:rPr>
              <a:t>Executive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 · THE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05 / 33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10896"/>
            <a:ext cx="1639408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25208" y="310896"/>
            <a:ext cx="9180687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02 — THE 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We don't let a model talk to a database</a:t>
            </a:r>
          </a:p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and improvise an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8778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4534E"/>
                </a:solidFill>
                <a:latin typeface="Segoe UI"/>
              </a:rPr>
              <a:t>Company knowledge is processed, structured and permissioned first. The conversational layer receives trusted context, not raw access. The future agent layer will act only on that same trusted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97680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1C1E27"/>
                </a:solidFill>
                <a:latin typeface="Georgia"/>
              </a:rPr>
              <a:t>That's a materially different — and more defensible — claim than “we use an LLM with RAG.”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 ·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06 / 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0896"/>
            <a:ext cx="1967290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53090" y="310896"/>
            <a:ext cx="8852805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1234440"/>
            <a:ext cx="3657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C5BDA6"/>
                </a:solidFill>
                <a:latin typeface="Consolas"/>
              </a:rPr>
              <a:t>01–06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0" i="0">
                <a:solidFill>
                  <a:srgbClr val="1C1E27"/>
                </a:solidFill>
                <a:latin typeface="Georgia"/>
              </a:rPr>
              <a:t>What we've actually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4612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4534E"/>
                </a:solidFill>
                <a:latin typeface="Consolas"/>
              </a:rPr>
              <a:t>Not the chatbot UI first — the infrastructure underneath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1164488" y="3977639"/>
            <a:ext cx="135331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01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127" y="3977639"/>
            <a:ext cx="245059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02 Document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2023" y="3977639"/>
            <a:ext cx="190195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03 Knowledge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0279" y="3977639"/>
            <a:ext cx="235915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04 GraphRAG /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5735" y="3977639"/>
            <a:ext cx="272491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05 Enterprise Access (EKAP)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56951" y="3977639"/>
            <a:ext cx="299923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06 Conversational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07 / 33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10896"/>
            <a:ext cx="229517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80971" y="310896"/>
            <a:ext cx="852492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C1E27"/>
                </a:solidFill>
                <a:latin typeface="Georgia"/>
              </a:rPr>
              <a:t>Raw organizational information enters Company Brain.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920240"/>
            <a:ext cx="75282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450">
                <a:solidFill>
                  <a:srgbClr val="9C6B22"/>
                </a:solidFill>
                <a:latin typeface="Segoe UI"/>
              </a:rPr>
              <a:t>—  </a:t>
            </a:r>
            <a:r>
              <a:rPr sz="1450">
                <a:solidFill>
                  <a:srgbClr val="54534E"/>
                </a:solidFill>
                <a:latin typeface="Segoe UI"/>
              </a:rPr>
              <a:t>Live connectors: Slack, Google Drive, GitHub, Jira, Teams, WhatsApp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450">
                <a:solidFill>
                  <a:srgbClr val="9C6B22"/>
                </a:solidFill>
                <a:latin typeface="Segoe UI"/>
              </a:rPr>
              <a:t>—  </a:t>
            </a:r>
            <a:r>
              <a:rPr sz="1450">
                <a:solidFill>
                  <a:srgbClr val="54534E"/>
                </a:solidFill>
                <a:latin typeface="Segoe UI"/>
              </a:rPr>
              <a:t>Every connector normalizes into one common ingestion contract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b="1" sz="1450">
                <a:solidFill>
                  <a:srgbClr val="9C6B22"/>
                </a:solidFill>
                <a:latin typeface="Segoe UI"/>
              </a:rPr>
              <a:t>—  </a:t>
            </a:r>
            <a:r>
              <a:rPr sz="1450">
                <a:solidFill>
                  <a:srgbClr val="54534E"/>
                </a:solidFill>
                <a:latin typeface="Segoe UI"/>
              </a:rPr>
              <a:t>Channel- and document-level access rules captured at the source, not bolted on 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08 / 33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10896"/>
            <a:ext cx="262305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08853" y="310896"/>
            <a:ext cx="819704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Document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C1E27"/>
                </a:solidFill>
                <a:latin typeface="Georgia"/>
              </a:rPr>
              <a:t>Raw files aren't useful to an AI system by themselves.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920240"/>
            <a:ext cx="75282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4534E"/>
                </a:solidFill>
                <a:latin typeface="Segoe UI"/>
              </a:rPr>
              <a:t>We process them into structured, machine-understandable knowledge: PDF, DOCX, PPTX, CSV, scanned documents, OCR, tables, sections, chunks, metadata, embeddings.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3200400"/>
            <a:ext cx="75282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1C1E27"/>
                </a:solidFill>
                <a:latin typeface="Georgia"/>
              </a:rPr>
              <a:t>The company doesn't just have files. It has machine-understandable organizational knowledge.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09 / 33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10896"/>
            <a:ext cx="295093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36735" y="310896"/>
            <a:ext cx="786916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We create relationships between the information</a:t>
            </a:r>
          </a:p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— not just an index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7530" y="229514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E5955"/>
                </a:solidFill>
                <a:latin typeface="Consolas"/>
              </a:rPr>
              <a:t>worked_on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7530" y="25146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4730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4621" y="229514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E5955"/>
                </a:solidFill>
                <a:latin typeface="Consolas"/>
              </a:rPr>
              <a:t>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4621" y="25146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1821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712" y="229514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E5955"/>
                </a:solidFill>
                <a:latin typeface="Consolas"/>
              </a:rPr>
              <a:t>decided_by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712" y="25146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68912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8A5C18"/>
                </a:solidFill>
                <a:latin typeface="Consola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8803" y="229514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E5955"/>
                </a:solidFill>
                <a:latin typeface="Consolas"/>
              </a:rPr>
              <a:t>supported_by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8803" y="25146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66003" y="2514600"/>
            <a:ext cx="1139891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794760"/>
            <a:ext cx="75282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54534E"/>
                </a:solidFill>
                <a:latin typeface="Segoe UI"/>
              </a:rPr>
              <a:t>Not “there is a document about Project X” — but “Project X is owned by this team, uses this architecture, this decision was made in this meeting, and these documents support it.”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10 / 33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10896"/>
            <a:ext cx="3278816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64616" y="310896"/>
            <a:ext cx="7541279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GraphRAG /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Not keyword search. A trusted, assembled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60020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4534E"/>
                </a:solidFill>
                <a:latin typeface="Segoe UI"/>
              </a:rPr>
              <a:t>Semantic retrieval + vector similarity + graph relationships + permissions + provenance. Ask “Why did we choose PostgreSQL?” and the system walks: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5" y="2587752"/>
            <a:ext cx="0" cy="1920240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14215" y="251460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7" y="241401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Relevant documents &amp; conversations</a:t>
            </a:r>
          </a:p>
        </p:txBody>
      </p:sp>
      <p:sp>
        <p:nvSpPr>
          <p:cNvPr id="10" name="Oval 9"/>
          <p:cNvSpPr/>
          <p:nvPr/>
        </p:nvSpPr>
        <p:spPr>
          <a:xfrm>
            <a:off x="4014215" y="2990088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7" y="2889504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Architecture entity</a:t>
            </a:r>
          </a:p>
        </p:txBody>
      </p:sp>
      <p:sp>
        <p:nvSpPr>
          <p:cNvPr id="12" name="Oval 11"/>
          <p:cNvSpPr/>
          <p:nvPr/>
        </p:nvSpPr>
        <p:spPr>
          <a:xfrm>
            <a:off x="4014215" y="3465576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7" y="3364992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Decision entity</a:t>
            </a:r>
          </a:p>
        </p:txBody>
      </p:sp>
      <p:sp>
        <p:nvSpPr>
          <p:cNvPr id="14" name="Oval 13"/>
          <p:cNvSpPr/>
          <p:nvPr/>
        </p:nvSpPr>
        <p:spPr>
          <a:xfrm>
            <a:off x="4014215" y="3941064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7" y="3840480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People involved</a:t>
            </a:r>
          </a:p>
        </p:txBody>
      </p:sp>
      <p:sp>
        <p:nvSpPr>
          <p:cNvPr id="16" name="Oval 15"/>
          <p:cNvSpPr/>
          <p:nvPr/>
        </p:nvSpPr>
        <p:spPr>
          <a:xfrm>
            <a:off x="4014215" y="4416552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7" y="4315968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Supporting evidence → a trusted KnowledgeContext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11 / 33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0896"/>
            <a:ext cx="3606698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92498" y="310896"/>
            <a:ext cx="7213397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 · FROZEN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Enterprise Knowledge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Before any model sees company information, it passes through an access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965960"/>
            <a:ext cx="2375306" cy="11887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Identity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Authentication, RBAC / ABAC, tenant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4113" y="1965960"/>
            <a:ext cx="2375306" cy="11887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Control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Rate limiting, audit logging, redaction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0588" y="1965960"/>
            <a:ext cx="2375306" cy="11887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Delivery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Secure APIs, controlled KnowledgeContext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52044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C1E27"/>
                </a:solidFill>
                <a:latin typeface="Georgia"/>
              </a:rPr>
              <a:t>The AI does not get unrestricted access to the company's data — by design, not by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12 / 33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10896"/>
            <a:ext cx="3934580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0380" y="310896"/>
            <a:ext cx="6885515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BUILT · CORE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Conversational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868680"/>
            <a:ext cx="75282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Where the company finally talks to its own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463040"/>
            <a:ext cx="75282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4534E"/>
                </a:solidFill>
                <a:latin typeface="Segoe UI"/>
              </a:rPr>
              <a:t>Not a chat window on a database — a pipeline that maintains memory, validates citations, checks grounding, routes across providers, and explains its answers.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5" y="2359152"/>
            <a:ext cx="0" cy="3410712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14215" y="228600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7" y="218541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Conversation Memory</a:t>
            </a:r>
          </a:p>
        </p:txBody>
      </p:sp>
      <p:sp>
        <p:nvSpPr>
          <p:cNvPr id="10" name="Oval 9"/>
          <p:cNvSpPr/>
          <p:nvPr/>
        </p:nvSpPr>
        <p:spPr>
          <a:xfrm>
            <a:off x="4014215" y="2770632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7" y="2670048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Conversation Planner → Plan</a:t>
            </a:r>
          </a:p>
        </p:txBody>
      </p:sp>
      <p:sp>
        <p:nvSpPr>
          <p:cNvPr id="12" name="Oval 11"/>
          <p:cNvSpPr/>
          <p:nvPr/>
        </p:nvSpPr>
        <p:spPr>
          <a:xfrm>
            <a:off x="4014215" y="3255264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7" y="3154680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Prompt Compiler</a:t>
            </a:r>
          </a:p>
        </p:txBody>
      </p:sp>
      <p:sp>
        <p:nvSpPr>
          <p:cNvPr id="14" name="Oval 13"/>
          <p:cNvSpPr/>
          <p:nvPr/>
        </p:nvSpPr>
        <p:spPr>
          <a:xfrm>
            <a:off x="4014215" y="3739896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7" y="3639312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Model Router → LLM</a:t>
            </a:r>
          </a:p>
        </p:txBody>
      </p:sp>
      <p:sp>
        <p:nvSpPr>
          <p:cNvPr id="16" name="Oval 15"/>
          <p:cNvSpPr/>
          <p:nvPr/>
        </p:nvSpPr>
        <p:spPr>
          <a:xfrm>
            <a:off x="4014215" y="4224528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7" y="4123944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Grounding Guard</a:t>
            </a:r>
          </a:p>
        </p:txBody>
      </p:sp>
      <p:sp>
        <p:nvSpPr>
          <p:cNvPr id="18" name="Oval 17"/>
          <p:cNvSpPr/>
          <p:nvPr/>
        </p:nvSpPr>
        <p:spPr>
          <a:xfrm>
            <a:off x="4014215" y="470916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7" y="460857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Citation Validator</a:t>
            </a:r>
          </a:p>
        </p:txBody>
      </p:sp>
      <p:sp>
        <p:nvSpPr>
          <p:cNvPr id="20" name="Oval 19"/>
          <p:cNvSpPr/>
          <p:nvPr/>
        </p:nvSpPr>
        <p:spPr>
          <a:xfrm>
            <a:off x="4014215" y="5193792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7" y="5093208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Output Guard → Response Review</a:t>
            </a:r>
          </a:p>
        </p:txBody>
      </p:sp>
      <p:sp>
        <p:nvSpPr>
          <p:cNvPr id="22" name="Oval 21"/>
          <p:cNvSpPr/>
          <p:nvPr/>
        </p:nvSpPr>
        <p:spPr>
          <a:xfrm>
            <a:off x="4014215" y="5678424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7" y="5577840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Streaming → Final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III · WHAT WE'VE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13 / 33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310896"/>
            <a:ext cx="426246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48261" y="310896"/>
            <a:ext cx="655763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03 — THE MAIN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The chat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9601200" cy="3566160"/>
          </a:xfrm>
          <a:prstGeom prst="roundRect">
            <a:avLst>
              <a:gd name="adj" fmla="val 3000"/>
            </a:avLst>
          </a:prstGeom>
          <a:solidFill>
            <a:srgbClr val="ECE8DC"/>
          </a:solidFill>
          <a:ln w="1524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788920" y="2377440"/>
            <a:ext cx="0" cy="3474720"/>
          </a:xfrm>
          <a:prstGeom prst="line">
            <a:avLst/>
          </a:prstGeom>
          <a:ln w="1270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51460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A5C18"/>
                </a:solidFill>
                <a:latin typeface="Consolas"/>
              </a:rPr>
              <a:t>+ New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25496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39089"/>
                </a:solidFill>
                <a:latin typeface="Consolas"/>
              </a:rPr>
              <a:t>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36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Q3 architecture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Project Atlas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39089"/>
                </a:solidFill>
                <a:latin typeface="Consolas"/>
              </a:rPr>
              <a:t>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79976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534E"/>
                </a:solidFill>
                <a:latin typeface="Consolas"/>
              </a:rPr>
              <a:t>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5176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4534E"/>
                </a:solidFill>
                <a:latin typeface="Segoe UI"/>
              </a:rPr>
              <a:t>Why did we choose PostgreSQL for the events service?  [1] 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291840"/>
            <a:ext cx="6949440" cy="14630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84048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9089"/>
                </a:solidFill>
                <a:latin typeface="Consolas"/>
              </a:rPr>
              <a:t>▤  Artifact — Architecture Diagram (generated, linked to evidence)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521208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F6F4EE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5330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9089"/>
                </a:solidFill>
                <a:latin typeface="Consolas"/>
              </a:rPr>
              <a:t>Ask Company Brain…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IV · THE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14 / 33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10896"/>
            <a:ext cx="459034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76143" y="310896"/>
            <a:ext cx="622975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03 —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Evidence is first-class.</a:t>
            </a:r>
          </a:p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Not a footnote — a click away.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4534E"/>
                </a:solidFill>
                <a:latin typeface="Segoe UI"/>
              </a:rPr>
              <a:t>“The company selected architecture X because… [1]” — click [1] and see: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91840"/>
            <a:ext cx="14630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Original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76855" y="3291840"/>
            <a:ext cx="14630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Exact paragraph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67910" y="329184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Author &amp;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716" y="3291840"/>
            <a:ext cx="15471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Related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5896" y="3291840"/>
            <a:ext cx="1042415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6327" y="3291840"/>
            <a:ext cx="179953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Graph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1E27"/>
                </a:solidFill>
                <a:latin typeface="Georgia"/>
              </a:rPr>
              <a:t>Answer → evidence → original source. Not answer → “trust me.”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IV · THE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15 / 33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0896"/>
            <a:ext cx="491822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04025" y="310896"/>
            <a:ext cx="590187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03 —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0" i="0">
                <a:solidFill>
                  <a:srgbClr val="1C1E27"/>
                </a:solidFill>
                <a:latin typeface="Georgia"/>
              </a:rPr>
              <a:t>“Why this answer?” — without exposing</a:t>
            </a:r>
          </a:p>
          <a:p>
            <a:pPr algn="l">
              <a:lnSpc>
                <a:spcPct val="106000"/>
              </a:lnSpc>
            </a:pPr>
            <a:r>
              <a:rPr sz="2500" b="0" i="0">
                <a:solidFill>
                  <a:srgbClr val="1C1E27"/>
                </a:solidFill>
                <a:latin typeface="Georgia"/>
              </a:rPr>
              <a:t>raw chain-of-thought.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880360"/>
            <a:ext cx="5120640" cy="3063240"/>
          </a:xfrm>
          <a:prstGeom prst="roundRect">
            <a:avLst>
              <a:gd name="adj" fmla="val 6000"/>
            </a:avLst>
          </a:prstGeom>
          <a:solidFill>
            <a:srgbClr val="ECE8DC"/>
          </a:solidFill>
          <a:ln w="1524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108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9089"/>
                </a:solidFill>
                <a:latin typeface="Consolas"/>
              </a:rPr>
              <a:t>ANSWER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8A5C18"/>
                </a:solidFill>
                <a:latin typeface="Consolas"/>
              </a:rPr>
              <a:t>94%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4023360"/>
            <a:ext cx="457200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41605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39089"/>
                </a:solidFill>
                <a:latin typeface="Consolas"/>
              </a:rPr>
              <a:t>PRIMARY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34840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b="1" sz="1150">
                <a:solidFill>
                  <a:srgbClr val="9C6B22"/>
                </a:solidFill>
                <a:latin typeface="Segoe UI"/>
              </a:rPr>
              <a:t>—  </a:t>
            </a:r>
            <a:r>
              <a:rPr sz="1150">
                <a:solidFill>
                  <a:srgbClr val="54534E"/>
                </a:solidFill>
                <a:latin typeface="Segoe UI"/>
              </a:rPr>
              <a:t>Architecture Decision Record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b="1" sz="1150">
                <a:solidFill>
                  <a:srgbClr val="9C6B22"/>
                </a:solidFill>
                <a:latin typeface="Segoe UI"/>
              </a:rPr>
              <a:t>—  </a:t>
            </a:r>
            <a:r>
              <a:rPr sz="1150">
                <a:solidFill>
                  <a:srgbClr val="54534E"/>
                </a:solidFill>
                <a:latin typeface="Segoe UI"/>
              </a:rPr>
              <a:t>Engineering discussion thread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b="1" sz="1150">
                <a:solidFill>
                  <a:srgbClr val="9C6B22"/>
                </a:solidFill>
                <a:latin typeface="Segoe UI"/>
              </a:rPr>
              <a:t>—  </a:t>
            </a:r>
            <a:r>
              <a:rPr sz="1150">
                <a:solidFill>
                  <a:srgbClr val="54534E"/>
                </a:solidFill>
                <a:latin typeface="Segoe UI"/>
              </a:rPr>
              <a:t>Design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035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39089"/>
                </a:solidFill>
                <a:latin typeface="Consolas"/>
              </a:rPr>
              <a:t>SUPPORTING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504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4534E"/>
                </a:solidFill>
                <a:latin typeface="Segoe UI"/>
              </a:rPr>
              <a:t>Project X · Team Y · Architecture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IV · THE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16 / 33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0896"/>
            <a:ext cx="5246106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31906" y="310896"/>
            <a:ext cx="5573989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1234440"/>
            <a:ext cx="3657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C5BDA6"/>
                </a:solidFill>
                <a:latin typeface="Consolas"/>
              </a:rPr>
              <a:t>07–11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0" i="0">
                <a:solidFill>
                  <a:srgbClr val="1C1E27"/>
                </a:solidFill>
                <a:latin typeface="Georgia"/>
              </a:rPr>
              <a:t>The chatbot is not the final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4612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4534E"/>
                </a:solidFill>
                <a:latin typeface="Consolas"/>
              </a:rPr>
              <a:t>Modules 7–11 — from understanding to acting.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6839" y="3977639"/>
            <a:ext cx="135331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07 AI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16455" y="3977639"/>
            <a:ext cx="199339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08 Projects &amp;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6151" y="3977639"/>
            <a:ext cx="226771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09 Workflow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0167" y="3977639"/>
            <a:ext cx="254203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10 Executive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8503" y="3977639"/>
            <a:ext cx="2816352" cy="384048"/>
          </a:xfrm>
          <a:prstGeom prst="roundRect">
            <a:avLst>
              <a:gd name="adj" fmla="val 28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11 MCP / Universal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39089"/>
                </a:solidFill>
                <a:latin typeface="Consolas"/>
              </a:rPr>
              <a:t>Designed in detail. Not yet built — sequenced after Module 6 reaches production-grade.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17 / 33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10896"/>
            <a:ext cx="5573988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59788" y="310896"/>
            <a:ext cx="5246107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C1E27"/>
                </a:solidFill>
                <a:latin typeface="Georgia"/>
              </a:rPr>
              <a:t>From understanding to acting.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554480"/>
            <a:ext cx="752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4534E"/>
                </a:solidFill>
                <a:latin typeface="Segoe UI"/>
              </a:rPr>
              <a:t>“Analyze this GitHub issue.” The agent can: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5" y="2359152"/>
            <a:ext cx="0" cy="2029968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14215" y="228600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7" y="218541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Inspect the repository</a:t>
            </a:r>
          </a:p>
        </p:txBody>
      </p:sp>
      <p:sp>
        <p:nvSpPr>
          <p:cNvPr id="10" name="Oval 9"/>
          <p:cNvSpPr/>
          <p:nvPr/>
        </p:nvSpPr>
        <p:spPr>
          <a:xfrm>
            <a:off x="4014215" y="278892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7" y="268833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Understand the architecture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4014215" y="329184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7" y="319125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Modify code &amp; run tests</a:t>
            </a:r>
          </a:p>
        </p:txBody>
      </p:sp>
      <p:sp>
        <p:nvSpPr>
          <p:cNvPr id="14" name="Oval 13"/>
          <p:cNvSpPr/>
          <p:nvPr/>
        </p:nvSpPr>
        <p:spPr>
          <a:xfrm>
            <a:off x="4014215" y="379476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7" y="369417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Prepare a pull request</a:t>
            </a:r>
          </a:p>
        </p:txBody>
      </p:sp>
      <p:sp>
        <p:nvSpPr>
          <p:cNvPr id="16" name="Oval 15"/>
          <p:cNvSpPr/>
          <p:nvPr/>
        </p:nvSpPr>
        <p:spPr>
          <a:xfrm>
            <a:off x="4014215" y="429768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7" y="419709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Ask for human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18 / 33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0896"/>
            <a:ext cx="5901870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7670" y="310896"/>
            <a:ext cx="4918225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Projects &amp;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868680"/>
            <a:ext cx="75282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Where work doesn't just get discussed. It gets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508760"/>
            <a:ext cx="75282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4534E"/>
                </a:solidFill>
                <a:latin typeface="Segoe UI"/>
              </a:rPr>
              <a:t>Not a synced copy of Jira — projects and tasks live inside the same organizational memory as everything else, so a task carries its context with it: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5" y="2404872"/>
            <a:ext cx="0" cy="1956816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14215" y="233172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7" y="223113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Goal stated in conversation — “break this into tasks”</a:t>
            </a:r>
          </a:p>
        </p:txBody>
      </p:sp>
      <p:sp>
        <p:nvSpPr>
          <p:cNvPr id="10" name="Oval 9"/>
          <p:cNvSpPr/>
          <p:nvPr/>
        </p:nvSpPr>
        <p:spPr>
          <a:xfrm>
            <a:off x="4014215" y="2816352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7" y="2715768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Tasks drafted, owners suggested from who's done related work before</a:t>
            </a:r>
          </a:p>
        </p:txBody>
      </p:sp>
      <p:sp>
        <p:nvSpPr>
          <p:cNvPr id="12" name="Oval 11"/>
          <p:cNvSpPr/>
          <p:nvPr/>
        </p:nvSpPr>
        <p:spPr>
          <a:xfrm>
            <a:off x="4014215" y="3300984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7" y="3200400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Agents execute what they can — draft, code, analyze — flag the rest</a:t>
            </a:r>
          </a:p>
        </p:txBody>
      </p:sp>
      <p:sp>
        <p:nvSpPr>
          <p:cNvPr id="14" name="Oval 13"/>
          <p:cNvSpPr/>
          <p:nvPr/>
        </p:nvSpPr>
        <p:spPr>
          <a:xfrm>
            <a:off x="4014215" y="3785616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7" y="3685032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Blocked items linked to the decision or dependency actually causing them</a:t>
            </a:r>
          </a:p>
        </p:txBody>
      </p:sp>
      <p:sp>
        <p:nvSpPr>
          <p:cNvPr id="16" name="Oval 15"/>
          <p:cNvSpPr/>
          <p:nvPr/>
        </p:nvSpPr>
        <p:spPr>
          <a:xfrm>
            <a:off x="4014215" y="4270248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7" y="4169664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Progress rolls up on its own — no status-update meeting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19 / 33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0896"/>
            <a:ext cx="622975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15551" y="310896"/>
            <a:ext cx="459034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Once agents can act, we chain actions into repeatable workflows.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59935" y="2404872"/>
            <a:ext cx="0" cy="2029968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014215" y="233172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7" y="223113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New customer request</a:t>
            </a:r>
          </a:p>
        </p:txBody>
      </p:sp>
      <p:sp>
        <p:nvSpPr>
          <p:cNvPr id="9" name="Oval 8"/>
          <p:cNvSpPr/>
          <p:nvPr/>
        </p:nvSpPr>
        <p:spPr>
          <a:xfrm>
            <a:off x="4014215" y="283464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7" y="273405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Search company knowledge</a:t>
            </a:r>
          </a:p>
        </p:txBody>
      </p:sp>
      <p:sp>
        <p:nvSpPr>
          <p:cNvPr id="11" name="Oval 10"/>
          <p:cNvSpPr/>
          <p:nvPr/>
        </p:nvSpPr>
        <p:spPr>
          <a:xfrm>
            <a:off x="4014215" y="333756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323697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Generate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4014215" y="384048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7" y="373989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Ask approval</a:t>
            </a:r>
          </a:p>
        </p:txBody>
      </p:sp>
      <p:sp>
        <p:nvSpPr>
          <p:cNvPr id="15" name="Oval 14"/>
          <p:cNvSpPr/>
          <p:nvPr/>
        </p:nvSpPr>
        <p:spPr>
          <a:xfrm>
            <a:off x="4014215" y="4343400"/>
            <a:ext cx="91440" cy="91440"/>
          </a:xfrm>
          <a:prstGeom prst="ellipse">
            <a:avLst/>
          </a:prstGeom>
          <a:solidFill>
            <a:srgbClr val="F6F4EE"/>
          </a:solidFill>
          <a:ln w="20320">
            <a:solidFill>
              <a:srgbClr val="2E5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7" y="4242816"/>
            <a:ext cx="716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C1E27"/>
                </a:solidFill>
                <a:latin typeface="Segoe UI"/>
              </a:rPr>
              <a:t>Send email · Create CRM record · Notify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20 / 33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10896"/>
            <a:ext cx="655763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43433" y="310896"/>
            <a:ext cx="426246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Executive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“What changed in the company this week?”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554480"/>
            <a:ext cx="75282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4534E"/>
                </a:solidFill>
                <a:latin typeface="Segoe UI"/>
              </a:rPr>
              <a:t>The same company memory, surfaced upward — instead of the CEO manually checking ten systems: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331720"/>
            <a:ext cx="1294790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Key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445" y="233172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0253" y="2331720"/>
            <a:ext cx="874166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2435" y="2331720"/>
            <a:ext cx="163128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Financial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1740" y="2331720"/>
            <a:ext cx="1210665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Team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752344"/>
            <a:ext cx="18836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Architecture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19" y="2752344"/>
            <a:ext cx="163128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Unresolved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21 / 33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10896"/>
            <a:ext cx="688551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71315" y="310896"/>
            <a:ext cx="393458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645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C5BDA6"/>
                </a:solidFill>
                <a:latin typeface="Consola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MCP / Universal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C1E27"/>
                </a:solidFill>
                <a:latin typeface="Georgia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914400"/>
            <a:ext cx="75282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C1E27"/>
                </a:solidFill>
                <a:latin typeface="Georgia"/>
              </a:rPr>
              <a:t>Company Brain shouldn't be trapped inside one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194560"/>
            <a:ext cx="1539164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Company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16803" y="219456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74003" y="2194560"/>
            <a:ext cx="1539164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3167" y="219456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0367" y="2194560"/>
            <a:ext cx="1539164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1E27"/>
                </a:solidFill>
                <a:latin typeface="Consolas"/>
              </a:rPr>
              <a:t>External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531" y="219456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731" y="2194560"/>
            <a:ext cx="1539164" cy="502920"/>
          </a:xfrm>
          <a:prstGeom prst="roundRect">
            <a:avLst>
              <a:gd name="adj" fmla="val 5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8A5C18"/>
                </a:solidFill>
                <a:latin typeface="Consolas"/>
              </a:rPr>
              <a:t>Enterprise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063240"/>
            <a:ext cx="75282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4534E"/>
                </a:solidFill>
                <a:latin typeface="Segoe UI"/>
              </a:rPr>
              <a:t>Exposed via MCP and API so other AI systems and internal tools can call on the same trusted company knowledge.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22 / 33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10896"/>
            <a:ext cx="7213396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99196" y="310896"/>
            <a:ext cx="3606699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05 — THE ULTIMATE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An operating system for organizational</a:t>
            </a:r>
          </a:p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knowledge and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8778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4534E"/>
                </a:solidFill>
                <a:latin typeface="Segoe UI"/>
              </a:rPr>
              <a:t>Companies already run operating systems for finance, HR, engineering and communication. They don't have one for what they know and why they decided what they decided.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C1E27"/>
                </a:solidFill>
                <a:latin typeface="Consolas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3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123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C1E27"/>
                </a:solidFill>
                <a:latin typeface="Consolas"/>
              </a:rPr>
              <a:t>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6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6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C1E27"/>
                </a:solidFill>
                <a:latin typeface="Consolas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569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769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A5C18"/>
                </a:solidFill>
                <a:latin typeface="Consolas"/>
              </a:rP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23 / 33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0896"/>
            <a:ext cx="7541278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7078" y="310896"/>
            <a:ext cx="3278817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05 — THE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Eight phases, one trajectory.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50" b="1">
                <a:solidFill>
                  <a:srgbClr val="1C1E27"/>
                </a:solidFill>
                <a:latin typeface="Segoe UI"/>
              </a:rPr>
              <a:t>Collect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1115" y="2331720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50" b="1">
                <a:solidFill>
                  <a:srgbClr val="1C1E27"/>
                </a:solidFill>
                <a:latin typeface="Segoe UI"/>
              </a:rPr>
              <a:t>Understand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2331720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50" b="1">
                <a:solidFill>
                  <a:srgbClr val="1C1E27"/>
                </a:solidFill>
                <a:latin typeface="Segoe UI"/>
              </a:rPr>
              <a:t>Remember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1747" y="2331720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50" b="1">
                <a:solidFill>
                  <a:srgbClr val="1C1E27"/>
                </a:solidFill>
                <a:latin typeface="Segoe UI"/>
              </a:rPr>
              <a:t>Converse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38728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50" b="1">
                <a:solidFill>
                  <a:srgbClr val="8A5C18"/>
                </a:solidFill>
                <a:latin typeface="Segoe UI"/>
              </a:rPr>
              <a:t>Create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1115" y="3538728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50" b="1">
                <a:solidFill>
                  <a:srgbClr val="8A5C18"/>
                </a:solidFill>
                <a:latin typeface="Segoe UI"/>
              </a:rPr>
              <a:t>Act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3538728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50" b="1">
                <a:solidFill>
                  <a:srgbClr val="8A5C18"/>
                </a:solidFill>
                <a:latin typeface="Segoe UI"/>
              </a:rPr>
              <a:t>Automate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1747" y="3538728"/>
            <a:ext cx="2554147" cy="100584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50" b="1">
                <a:solidFill>
                  <a:srgbClr val="8A5C18"/>
                </a:solidFill>
                <a:latin typeface="Segoe UI"/>
              </a:rPr>
              <a:t>Predict / Advise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Phase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39089"/>
                </a:solidFill>
                <a:latin typeface="Consolas"/>
              </a:rPr>
              <a:t>We are exiting Phase 4 and entering Phase 5. Amber cards mark what's ahead.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 · THE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24 / 33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10896"/>
            <a:ext cx="7869160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4960" y="310896"/>
            <a:ext cx="2950935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“WHY CAN'T MICROSOFT/GOOGLE/OPENAI JUST DO THIS?”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0" i="0">
                <a:solidFill>
                  <a:srgbClr val="1C1E27"/>
                </a:solidFill>
                <a:latin typeface="Georgia"/>
              </a:rPr>
              <a:t>The opportunity isn't another foundation model.</a:t>
            </a:r>
          </a:p>
          <a:p>
            <a:pPr algn="l">
              <a:lnSpc>
                <a:spcPct val="106000"/>
              </a:lnSpc>
            </a:pPr>
            <a:r>
              <a:rPr sz="2300" b="0" i="0">
                <a:solidFill>
                  <a:srgbClr val="1C1E27"/>
                </a:solidFill>
                <a:latin typeface="Georgia"/>
              </a:rPr>
              <a:t>It's the intelligence layer around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88036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3063240"/>
            <a:ext cx="2238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534E"/>
                </a:solidFill>
                <a:latin typeface="Consolas"/>
              </a:rPr>
              <a:t>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456432"/>
            <a:ext cx="22386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4534E"/>
                </a:solidFill>
                <a:latin typeface="Segoe UI"/>
              </a:rPr>
              <a:t>General intelligence. No memory of how your company actually operates.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6543" y="288036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1135" y="3063240"/>
            <a:ext cx="2238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534E"/>
                </a:solidFill>
                <a:latin typeface="Consolas"/>
              </a:rPr>
              <a:t>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1135" y="3456432"/>
            <a:ext cx="22386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4534E"/>
                </a:solidFill>
                <a:latin typeface="Segoe UI"/>
              </a:rPr>
              <a:t>Embedded assistance across Microsoft's ecosystem — not a unified company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288036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3063240"/>
            <a:ext cx="2238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534E"/>
                </a:solidFill>
                <a:latin typeface="Consolas"/>
              </a:rPr>
              <a:t>GLEAN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1879" y="3456432"/>
            <a:ext cx="22386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4534E"/>
                </a:solidFill>
                <a:latin typeface="Segoe UI"/>
              </a:rPr>
              <a:t>Enterprise search and knowledge assistance — finds documents, not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8031" y="2880360"/>
            <a:ext cx="2567863" cy="2331720"/>
          </a:xfrm>
          <a:prstGeom prst="roundRect">
            <a:avLst>
              <a:gd name="adj" fmla="val 6000"/>
            </a:avLst>
          </a:prstGeom>
          <a:solidFill>
            <a:srgbClr val="F0E2C4"/>
          </a:solidFill>
          <a:ln w="1524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2623" y="3063240"/>
            <a:ext cx="2238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COMPANY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2623" y="3456432"/>
            <a:ext cx="22386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E27"/>
                </a:solidFill>
                <a:latin typeface="Segoe UI"/>
              </a:rPr>
              <a:t>Structured organizational memory — relationships, decisions, context, provenance — powering conversation, creation, agents and automation.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8A5C18"/>
                </a:solidFill>
                <a:latin typeface="Consolas"/>
              </a:rPr>
              <a:t>The key word is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25 / 33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10896"/>
            <a:ext cx="819704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82841" y="310896"/>
            <a:ext cx="262305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The moat isn't the LLM.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Organizational data +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Semantic memory +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6616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Conversation + Decision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0624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Artifact + Agent + Workflow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300" b="1">
                <a:solidFill>
                  <a:srgbClr val="8A5C18"/>
                </a:solidFill>
                <a:latin typeface="Segoe UI"/>
              </a:rPr>
              <a:t>Company-specific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1C1E27"/>
                </a:solidFill>
                <a:latin typeface="Georgia"/>
              </a:rPr>
              <a:t>The longer a company runs on this, the more it understands how that particular company operates — and the harder it becomes to replace.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26 / 33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10896"/>
            <a:ext cx="852492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0723" y="310896"/>
            <a:ext cx="229517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THE LONG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0" i="0">
                <a:solidFill>
                  <a:srgbClr val="1C1E27"/>
                </a:solidFill>
                <a:latin typeface="Georgia"/>
              </a:rPr>
              <a:t>One intelligence platform.</a:t>
            </a:r>
          </a:p>
          <a:p>
            <a:pPr algn="l">
              <a:lnSpc>
                <a:spcPct val="106000"/>
              </a:lnSpc>
            </a:pPr>
            <a:r>
              <a:rPr sz="2600" b="0" i="0">
                <a:solidFill>
                  <a:srgbClr val="1C1E27"/>
                </a:solidFill>
                <a:latin typeface="Georgia"/>
              </a:rPr>
              <a:t>Built once — carried everywhere memory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8961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4534E"/>
                </a:solidFill>
                <a:latin typeface="Segoe UI"/>
              </a:rPr>
              <a:t>Company Brain starts as enterprise memory: how a company works, what it decided, and why. The same underlying loop — Memory → Reasoning → Agents → Action → Feedback — doesn't have to stop at the org chart.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C1E27"/>
                </a:solidFill>
                <a:latin typeface="Consolas"/>
              </a:rPr>
              <a:t>AI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3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123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C1E27"/>
                </a:solidFill>
                <a:latin typeface="Consolas"/>
              </a:rPr>
              <a:t>Company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6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6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C1E27"/>
                </a:solidFill>
                <a:latin typeface="Consolas"/>
              </a:rPr>
              <a:t>Personal Brain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569" y="41148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939089"/>
                </a:solidFill>
                <a:latin typeface="Consola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769" y="4114800"/>
            <a:ext cx="2362123" cy="502920"/>
          </a:xfrm>
          <a:prstGeom prst="roundRect">
            <a:avLst>
              <a:gd name="adj" fmla="val 50000"/>
            </a:avLst>
          </a:prstGeom>
          <a:solidFill>
            <a:srgbClr val="F0E2C4"/>
          </a:solidFill>
          <a:ln w="1397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5C18"/>
                </a:solidFill>
                <a:latin typeface="Consolas"/>
              </a:rPr>
              <a:t>Every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7492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1C1E27"/>
                </a:solidFill>
                <a:latin typeface="Georgia"/>
              </a:rPr>
              <a:t>The long-term ambition is bigger than one workplace tool: a memory layer that follows a person, not just a company — surfaced through whatever device they're in front of.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27 / 33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10896"/>
            <a:ext cx="885280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38605" y="310896"/>
            <a:ext cx="196729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SAME MEMORY, DIFFERENT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0" i="0">
                <a:solidFill>
                  <a:srgbClr val="1C1E27"/>
                </a:solidFill>
                <a:latin typeface="Georgia"/>
              </a:rPr>
              <a:t>Personal AI, glasses, cars, watches —</a:t>
            </a:r>
          </a:p>
          <a:p>
            <a:pPr algn="l">
              <a:lnSpc>
                <a:spcPct val="106000"/>
              </a:lnSpc>
            </a:pPr>
            <a:r>
              <a:rPr sz="2500" b="0" i="0">
                <a:solidFill>
                  <a:srgbClr val="1C1E27"/>
                </a:solidFill>
                <a:latin typeface="Georgia"/>
              </a:rPr>
              <a:t>one memory, four surfaces.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5295747" cy="14173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500" b="1">
                <a:solidFill>
                  <a:srgbClr val="1C1E27"/>
                </a:solidFill>
                <a:latin typeface="Segoe UI"/>
              </a:rPr>
              <a:t>Personal AI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4534E"/>
                </a:solidFill>
                <a:latin typeface="Segoe UI"/>
              </a:rPr>
              <a:t>A personal memory the way Company Brain is an organizational one: calendar, notes, tasks and conversations understood as one evolving context — not four separate apps.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0147" y="2468880"/>
            <a:ext cx="5295747" cy="14173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500" b="1">
                <a:solidFill>
                  <a:srgbClr val="1C1E27"/>
                </a:solidFill>
                <a:latin typeface="Segoe UI"/>
              </a:rPr>
              <a:t>AI Glasses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4534E"/>
                </a:solidFill>
                <a:latin typeface="Segoe UI"/>
              </a:rPr>
              <a:t>Voice plus vision plus context. “What am I looking at.” “Remember this.” “Who did I meet here last week.”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5295747" cy="14173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500" b="1">
                <a:solidFill>
                  <a:srgbClr val="1C1E27"/>
                </a:solidFill>
                <a:latin typeface="Segoe UI"/>
              </a:rPr>
              <a:t>Cars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4534E"/>
                </a:solidFill>
                <a:latin typeface="Segoe UI"/>
              </a:rPr>
              <a:t>An operating layer for the drive — reroutes around what's slowing you down, briefs you on what's next before you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4114800"/>
            <a:ext cx="5295747" cy="141732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500" b="1">
                <a:solidFill>
                  <a:srgbClr val="1C1E27"/>
                </a:solidFill>
                <a:latin typeface="Segoe UI"/>
              </a:rPr>
              <a:t>Watches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4534E"/>
                </a:solidFill>
                <a:latin typeface="Segoe UI"/>
              </a:rPr>
              <a:t>The lowest-friction interface to the same memory — “what's next,” answered in one glance, no app to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939089"/>
                </a:solidFill>
                <a:latin typeface="Consolas"/>
              </a:rPr>
              <a:t>Each of these is a distinct product with its own safety, privacy, latency and hardware requirements — not a claim the current architecture already solves them. What carries forward is the memory model, not the assumption that it's easy. Immediate focus stays on finishing the enterprise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28 / 33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10896"/>
            <a:ext cx="9180686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66486" y="310896"/>
            <a:ext cx="1639409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Every knowledge-intensive company</a:t>
            </a:r>
          </a:p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has the same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8778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4534E"/>
                </a:solidFill>
                <a:latin typeface="Segoe UI"/>
              </a:rPr>
              <a:t>Knowledge fragmented across systems, people and time. We start where knowledge is expensive and decisions depend on context: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03320"/>
            <a:ext cx="18836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Technology companies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3703320"/>
            <a:ext cx="2304288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Engineering organizations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9784" y="3703320"/>
            <a:ext cx="15471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Consulting firms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964" y="3703320"/>
            <a:ext cx="2136038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Financial organizations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9018" y="3703320"/>
            <a:ext cx="1967788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Professional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23944"/>
            <a:ext cx="1631289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Large enterprises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5105" y="4123944"/>
            <a:ext cx="1883664" cy="365760"/>
          </a:xfrm>
          <a:prstGeom prst="roundRect">
            <a:avLst>
              <a:gd name="adj" fmla="val 50000"/>
            </a:avLst>
          </a:prstGeom>
          <a:solidFill>
            <a:srgbClr val="ECE8DC"/>
          </a:solidFill>
          <a:ln w="1270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>
                <a:solidFill>
                  <a:srgbClr val="54534E"/>
                </a:solidFill>
                <a:latin typeface="Consolas"/>
              </a:rPr>
              <a:t>Regulated industries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29 / 33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0896"/>
            <a:ext cx="9508568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94368" y="310896"/>
            <a:ext cx="1311527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BUSINESS MODEL — INDIA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0" i="0">
                <a:solidFill>
                  <a:srgbClr val="1C1E27"/>
                </a:solidFill>
                <a:latin typeface="Georgia"/>
              </a:rPr>
              <a:t>Enterprise SaaS. Illustrative India price points.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554147" cy="173736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Per-user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₹1,500–4,000 / user / month — conversational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1115" y="2468880"/>
            <a:ext cx="2554147" cy="173736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Enterprise platform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₹15L–1.5 Cr / year — large-scale deployments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2468880"/>
            <a:ext cx="2554147" cy="173736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Usage-based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Metered — inference, agents, automation,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1747" y="2468880"/>
            <a:ext cx="2554147" cy="1737360"/>
          </a:xfrm>
          <a:prstGeom prst="roundRect">
            <a:avLst>
              <a:gd name="adj" fmla="val 10000"/>
            </a:avLst>
          </a:prstGeom>
          <a:solidFill>
            <a:srgbClr val="ECE8DC"/>
          </a:solidFill>
          <a:ln w="1397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sz="1300" b="1">
                <a:solidFill>
                  <a:srgbClr val="1C1E27"/>
                </a:solidFill>
                <a:latin typeface="Segoe UI"/>
              </a:rPr>
              <a:t>Enterprise add-ons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4534E"/>
                </a:solidFill>
                <a:latin typeface="Segoe UI"/>
              </a:rPr>
              <a:t>Custom — security, private deployment, compliance, connectors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2628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39089"/>
                </a:solidFill>
                <a:latin typeface="Consolas"/>
              </a:rPr>
              <a:t>Illustrative pricing, not yet published — positioned below typical US enterprise SaaS seat pricing to match India buying norms and purchasing power. ₹1 Cr = ≈$104K at ≈₹95.75/$1 (Federal Reserve H.10, Aug 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30 / 33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10896"/>
            <a:ext cx="9836450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22250" y="310896"/>
            <a:ext cx="983645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TIME &amp;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0" i="0">
                <a:solidFill>
                  <a:srgbClr val="1C1E27"/>
                </a:solidFill>
                <a:latin typeface="Georgia"/>
              </a:rPr>
              <a:t>Time and money reclaimed, at any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34E"/>
                </a:solidFill>
                <a:latin typeface="Segoe UI"/>
              </a:rPr>
              <a:t>Knowledge workers lose roughly 9.3 hours a week — about a fifth of the work week — searching for and gathering information (McKinsey Global Institute). The model below assumes Company Brain recovers the majority of that: ~6 hours per employee, per week, valued at an illustrative ₹430/hr blended fully-loaded cost — a ~₹9L/yr average Indian knowledge-worker CTC plus statutory and overhead loading.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560320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TIME /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39" y="2560320"/>
            <a:ext cx="20848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CAPACITY FREED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VALUE / YR (INR)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560320"/>
            <a:ext cx="24323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939089"/>
                </a:solidFill>
                <a:latin typeface="Consolas"/>
              </a:rPr>
              <a:t>VALUE / YR (USD)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852928"/>
            <a:ext cx="10820095" cy="0"/>
          </a:xfrm>
          <a:prstGeom prst="line">
            <a:avLst/>
          </a:prstGeom>
          <a:ln w="13970">
            <a:solidFill>
              <a:srgbClr val="C5B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926080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300 hrs/wk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926080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8 FTE-equiv.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₹0.7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926080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$70K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36976"/>
            <a:ext cx="10911535" cy="329184"/>
          </a:xfrm>
          <a:prstGeom prst="roundRect">
            <a:avLst>
              <a:gd name="adj" fmla="val 4000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55264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255264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600 hrs/wk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255264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15 FTE-equiv.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55264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₹1.3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55264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$140K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84448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584448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900 hrs/wk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3584448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23 FTE-equiv.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584448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₹2.0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84448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$210K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95344"/>
            <a:ext cx="10911535" cy="329184"/>
          </a:xfrm>
          <a:prstGeom prst="roundRect">
            <a:avLst>
              <a:gd name="adj" fmla="val 4000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913632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913632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1,200 hrs/wk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3913632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30 FTE-equiv.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913632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₹2.7 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913632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$280K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42816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242816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3,000 hrs/wk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4242816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75 FTE-equiv.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242816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₹6.7 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242816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$701K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553712"/>
            <a:ext cx="10911535" cy="329184"/>
          </a:xfrm>
          <a:prstGeom prst="roundRect">
            <a:avLst>
              <a:gd name="adj" fmla="val 4000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572000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572000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6,000 hrs/wk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39" y="4572000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150 FTE-equiv.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572000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₹13.4 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572000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$1.4M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901184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2,000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901184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12,000 hrs/wk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39" y="4901184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300 FTE-equiv.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901184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₹26.8 Cr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901184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$2.8M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212080"/>
            <a:ext cx="10911535" cy="329184"/>
          </a:xfrm>
          <a:prstGeom prst="roundRect">
            <a:avLst>
              <a:gd name="adj" fmla="val 4000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230368"/>
            <a:ext cx="1490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1E27"/>
                </a:solidFill>
                <a:latin typeface="Segoe UI"/>
              </a:rPr>
              <a:t>10,000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230368"/>
            <a:ext cx="22677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60,000 hrs/wk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39" y="5230368"/>
            <a:ext cx="20848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1C1E27"/>
                </a:solidFill>
                <a:latin typeface="Consolas"/>
              </a:rPr>
              <a:t>1,500 FTE-equiv.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230368"/>
            <a:ext cx="19933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8A5C18"/>
                </a:solidFill>
                <a:latin typeface="Consolas"/>
              </a:rPr>
              <a:t>₹134.2 Cr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230368"/>
            <a:ext cx="24323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4534E"/>
                </a:solidFill>
                <a:latin typeface="Consolas"/>
              </a:rPr>
              <a:t>$14.0M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678424"/>
            <a:ext cx="108200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Capacity freed for higher-value work or avoided future hiring — not a claim that roles are eliminated. Baseline: McKinsey Global Institute, “The social economy: Unlocking value and productivity through social technologies.” ₹430/hr is an illustrative Indian blended fully-loaded cost per 2026 IT-sector compensation benchmarks (~₹7–9L average CTC + ~15–20% statutory/overhead loading). USD shown for reference at ≈₹95.75/$1 (Federal Reserve H.10, Aug 2026). The 65% time-recovery assumption is illustrative, not a measured customer result.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31 / 33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85800" y="310896"/>
            <a:ext cx="10164331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850131" y="310896"/>
            <a:ext cx="655764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THE MARKET,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0" i="0">
                <a:solidFill>
                  <a:srgbClr val="1C1E27"/>
                </a:solidFill>
                <a:latin typeface="Georgia"/>
              </a:rPr>
              <a:t>The category is real in India, and it's growing fast.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32407" y="228600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ECE8DC"/>
          </a:solidFill>
          <a:ln w="1524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/>
          <a:lstStyle/>
          <a:p>
            <a:pPr algn="ctr"/>
            <a:r>
              <a:rPr sz="1200" b="1">
                <a:solidFill>
                  <a:srgbClr val="54534E"/>
                </a:solidFill>
                <a:latin typeface="Consolas"/>
              </a:rPr>
              <a:t>TAM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C1E27"/>
                </a:solidFill>
                <a:latin typeface="Segoe UI"/>
              </a:rPr>
              <a:t>$1.6B in 2025 → $13.2B by 2034  (≈₹15,300 Cr → ₹1,26,000 Cr)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India AI software &amp; services market, ~26.5% CAGR (IMARC Group); IDC separately forecasts ≈$6B of India AI spend by 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5447" y="3346704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CE8DC"/>
          </a:solidFill>
          <a:ln w="15240">
            <a:solidFill>
              <a:srgbClr val="C5B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/>
          <a:lstStyle/>
          <a:p>
            <a:pPr algn="ctr"/>
            <a:r>
              <a:rPr sz="1200" b="1">
                <a:solidFill>
                  <a:srgbClr val="54534E"/>
                </a:solidFill>
                <a:latin typeface="Consolas"/>
              </a:rPr>
              <a:t>SAM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C1E27"/>
                </a:solidFill>
                <a:latin typeface="Segoe UI"/>
              </a:rPr>
              <a:t>Illustrative estimate: $150M–$300M today  (≈₹1,400–2,900 Cr)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India's knowledge-intensive enterprises actively budgeting for AI tools — GCCs, IT/ITES, BFSI, consulting, professional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4407408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0E2C4"/>
          </a:solidFill>
          <a:ln w="15240">
            <a:solidFill>
              <a:srgbClr val="9C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/>
          <a:lstStyle/>
          <a:p>
            <a:pPr algn="ctr"/>
            <a:r>
              <a:rPr sz="1200" b="1">
                <a:solidFill>
                  <a:srgbClr val="8A5C18"/>
                </a:solidFill>
                <a:latin typeface="Consolas"/>
              </a:rPr>
              <a:t>SOM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C1E27"/>
                </a:solidFill>
                <a:latin typeface="Segoe UI"/>
              </a:rPr>
              <a:t>A few dozen to ~100 customers by year three — not a market-share game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4534E"/>
                </a:solidFill>
                <a:latin typeface="Segoe UI"/>
              </a:rPr>
              <a:t>What a focused challenger can realistically win in India in the 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9089"/>
                </a:solidFill>
                <a:latin typeface="Consolas"/>
              </a:rPr>
              <a:t>Sources: IMARC Group — India Artificial Intelligence Market Report; IDC — India AI spending forecast. Category estimates, not a company-specific forecast. USD→INR at ≈₹95.75/$1 (Federal Reserve H.10, Aug 2026).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32 / 33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10896"/>
            <a:ext cx="10492213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78013" y="310896"/>
            <a:ext cx="327882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5C18"/>
                </a:solidFill>
                <a:latin typeface="Consolas"/>
              </a:rPr>
              <a:t>06 — “WHAT CAN I ACTUALLY USE TODAY?”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0" i="0">
                <a:solidFill>
                  <a:srgbClr val="1C1E27"/>
                </a:solidFill>
                <a:latin typeface="Georgia"/>
              </a:rPr>
              <a:t>An honest answer, not a bigger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8778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54534E"/>
                </a:solidFill>
                <a:latin typeface="Segoe UI"/>
              </a:rPr>
              <a:t>The foundation is built first. Modules 1–6 establish ingestion, structured knowledge, retrieval, enterprise access and conversational intelligence — real, tested,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54534E"/>
                </a:solidFill>
                <a:latin typeface="Segoe UI"/>
              </a:rPr>
              <a:t>Next: take the conversational workspace to production-grade, then introduce agents and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VI · WHY WE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939089"/>
                </a:solidFill>
                <a:latin typeface="Consolas"/>
              </a:rPr>
              <a:t>33 / 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0896"/>
            <a:ext cx="10820095" cy="0"/>
          </a:xfrm>
          <a:prstGeom prst="line">
            <a:avLst/>
          </a:prstGeom>
          <a:ln w="27940">
            <a:solidFill>
              <a:srgbClr val="9C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05895" y="310896"/>
            <a:ext cx="0" cy="0"/>
          </a:xfrm>
          <a:prstGeom prst="line">
            <a:avLst/>
          </a:prstGeom>
          <a:ln w="12700">
            <a:solidFill>
              <a:srgbClr val="DAD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737360"/>
            <a:ext cx="981425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FAF8F2"/>
                </a:solidFill>
                <a:latin typeface="Georgia"/>
              </a:rPr>
              <a:t>“Company Brain is building an AI-native organizational memory. We connect the systems knowledge already lives in, structure it into a permission-aware knowledge graph and semantic memory, and let people talk to that knowledge — with evidence and provenance. Beyond chat, the same memory will power agents, workflow automation and executive intelligence. Long-term, we want to become the intelligence layer that sits above a company's existing software and turns fragmented information into understanding — and eventually action.”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5029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C6B22"/>
                </a:solidFill>
                <a:latin typeface="Consolas"/>
              </a:rPr>
              <a:t>THE 30-SECOND PITCH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737360"/>
            <a:ext cx="981425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1">
                <a:solidFill>
                  <a:srgbClr val="FAF8F2"/>
                </a:solidFill>
                <a:latin typeface="Georgia"/>
              </a:rPr>
              <a:t>Today, AI can answer questions.</a:t>
            </a:r>
          </a:p>
          <a:p>
            <a:pPr algn="l">
              <a:lnSpc>
                <a:spcPct val="130000"/>
              </a:lnSpc>
            </a:pPr>
            <a:r>
              <a:rPr sz="2700" b="0" i="1">
                <a:solidFill>
                  <a:srgbClr val="FAF8F2"/>
                </a:solidFill>
                <a:latin typeface="Georgia"/>
              </a:rPr>
              <a:t>Our goal is to build the system that understands the company behind those questions.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80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A49B"/>
                </a:solidFill>
                <a:latin typeface="Consola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0" i="0">
                <a:solidFill>
                  <a:srgbClr val="FAF8F2"/>
                </a:solidFill>
                <a:latin typeface="Georgia"/>
              </a:rPr>
              <a:t>Questions,</a:t>
            </a:r>
          </a:p>
          <a:p>
            <a:pPr algn="l">
              <a:lnSpc>
                <a:spcPct val="105000"/>
              </a:lnSpc>
            </a:pPr>
            <a:r>
              <a:rPr sz="5200" b="0" i="0">
                <a:solidFill>
                  <a:srgbClr val="FAF8F2"/>
                </a:solidFill>
                <a:latin typeface="Georgia"/>
              </a:rPr>
              <a:t>challenges, ideas.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C9C5BA"/>
                </a:solidFill>
                <a:latin typeface="Georgia"/>
              </a:rPr>
              <a:t>Company Brain — built module by module, tested at every step, honest about what's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